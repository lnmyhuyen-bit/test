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19"/>
  </p:notesMasterIdLst>
  <p:sldIdLst>
    <p:sldId id="304" r:id="rId5"/>
    <p:sldId id="377" r:id="rId6"/>
    <p:sldId id="315" r:id="rId7"/>
    <p:sldId id="344" r:id="rId8"/>
    <p:sldId id="325" r:id="rId9"/>
    <p:sldId id="312" r:id="rId10"/>
    <p:sldId id="380" r:id="rId11"/>
    <p:sldId id="297" r:id="rId12"/>
    <p:sldId id="323" r:id="rId13"/>
    <p:sldId id="303" r:id="rId14"/>
    <p:sldId id="310" r:id="rId15"/>
    <p:sldId id="350" r:id="rId16"/>
    <p:sldId id="339" r:id="rId17"/>
    <p:sldId id="341" r:id="rId18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04"/>
            <p14:sldId id="377"/>
            <p14:sldId id="315"/>
            <p14:sldId id="344"/>
            <p14:sldId id="325"/>
            <p14:sldId id="312"/>
            <p14:sldId id="380"/>
            <p14:sldId id="297"/>
            <p14:sldId id="323"/>
            <p14:sldId id="303"/>
            <p14:sldId id="310"/>
            <p14:sldId id="350"/>
            <p14:sldId id="339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E9AD"/>
    <a:srgbClr val="119303"/>
    <a:srgbClr val="67F753"/>
    <a:srgbClr val="F5F5F5"/>
    <a:srgbClr val="E78BCB"/>
    <a:srgbClr val="424340"/>
    <a:srgbClr val="E2E7EE"/>
    <a:srgbClr val="0000FF"/>
    <a:srgbClr val="29A8FF"/>
    <a:srgbClr val="8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0D5B3-041C-403F-80FA-A6F45E426811}" v="106" dt="2026-03-17T05:35:34.251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6247" autoAdjust="0"/>
  </p:normalViewPr>
  <p:slideViewPr>
    <p:cSldViewPr snapToGrid="0">
      <p:cViewPr varScale="1">
        <p:scale>
          <a:sx n="140" d="100"/>
          <a:sy n="140" d="100"/>
        </p:scale>
        <p:origin x="8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delSld modSection">
      <pc:chgData name="Danh, Hoàng Duy" userId="3a448fcf-317f-4972-a161-06742a14d4c7" providerId="ADAL" clId="{CE1C8B88-0719-4E4A-B0E4-7DC533AE261F}" dt="2026-03-17T05:37:02.386" v="1" actId="47"/>
      <pc:docMkLst>
        <pc:docMk/>
      </pc:docMkLst>
      <pc:sldChg chg="del">
        <pc:chgData name="Danh, Hoàng Duy" userId="3a448fcf-317f-4972-a161-06742a14d4c7" providerId="ADAL" clId="{CE1C8B88-0719-4E4A-B0E4-7DC533AE261F}" dt="2026-03-17T05:36:58.715" v="0" actId="47"/>
        <pc:sldMkLst>
          <pc:docMk/>
          <pc:sldMk cId="0" sldId="261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2816104292" sldId="351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693037521" sldId="355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1808979813" sldId="356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106691853" sldId="359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874143046" sldId="360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2709438062" sldId="362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1583724390" sldId="367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848988868" sldId="372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131429397" sldId="37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7897969209754749"/>
          <c:w val="0.96127612492926384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0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437-4395-A92B-98E0BFBDEC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#,##0.00,,,_);_(* \(#,##0.00,,,\);;_(@_)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3"/>
              <c:layout>
                <c:manualLayout>
                  <c:x val="1.9216987938389077E-3"/>
                  <c:y val="3.9909789211367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8"/>
              <c:layout>
                <c:manualLayout>
                  <c:x val="3.8433975876777447E-3"/>
                  <c:y val="-6.65110778471339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1"/>
              <c:layout>
                <c:manualLayout>
                  <c:x val="1.921698793838943E-2"/>
                  <c:y val="9.31228414931917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#,##0.00,,,_);_(* \(#,##0.00,,,\);;_(@_)</c:formatCode>
                <c:ptCount val="12"/>
                <c:pt idx="0">
                  <c:v>-1693460736</c:v>
                </c:pt>
                <c:pt idx="1">
                  <c:v>-6419213738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873-41C8-B971-500DCA179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0843631"/>
        <c:axId val="1300837391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#,##0.00,,,_);_(* \(#,##0.00,,,\);;_(@_)</c:formatCode>
                <c:ptCount val="12"/>
                <c:pt idx="0">
                  <c:v>1521095499.7650661</c:v>
                </c:pt>
                <c:pt idx="1">
                  <c:v>-1325103642.6497841</c:v>
                </c:pt>
                <c:pt idx="2">
                  <c:v>5063579812.0372438</c:v>
                </c:pt>
                <c:pt idx="3">
                  <c:v>2987787736.05583</c:v>
                </c:pt>
                <c:pt idx="4">
                  <c:v>3130291883.7845154</c:v>
                </c:pt>
                <c:pt idx="5">
                  <c:v>2831772640.584898</c:v>
                </c:pt>
                <c:pt idx="6">
                  <c:v>7350302403.1836166</c:v>
                </c:pt>
                <c:pt idx="7">
                  <c:v>6722008020.0142345</c:v>
                </c:pt>
                <c:pt idx="8">
                  <c:v>6109248285.174057</c:v>
                </c:pt>
                <c:pt idx="9">
                  <c:v>6665662779.7506657</c:v>
                </c:pt>
                <c:pt idx="10">
                  <c:v>7122677929.8157387</c:v>
                </c:pt>
                <c:pt idx="11">
                  <c:v>5291449007.4755802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0,,,_);_(* \(#,##0.00,,,\);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3008373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843631"/>
        <c:crosses val="max"/>
        <c:crossBetween val="between"/>
      </c:valAx>
      <c:catAx>
        <c:axId val="1300843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3008373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47579688465E-2"/>
          <c:y val="0.19893458670323144"/>
          <c:w val="0.96127612492926384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-1.921698793838942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FC-49B1-9E2A-6F8ADAB87AD5}"/>
                </c:ext>
              </c:extLst>
            </c:dLbl>
            <c:dLbl>
              <c:idx val="9"/>
              <c:layout>
                <c:manualLayout>
                  <c:x val="0"/>
                  <c:y val="3.9909789211367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E01-4A03-AE82-B08F6E02B1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2E01-4A03-AE82-B08F6E02B15B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3.8433975876778857E-3"/>
                  <c:y val="-6.65163153522798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3.8433975876777447E-3"/>
                  <c:y val="3.9909789211367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1.1530192763033657E-2"/>
                  <c:y val="-3.9909789211368021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939-4186-A812-0A26674D7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9068735"/>
        <c:axId val="881042095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1.7295289144550485E-2"/>
                  <c:y val="-3.32581576761399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54-4B67-B167-FFF9E994D945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1521095499.7650661</c:v>
                </c:pt>
                <c:pt idx="1">
                  <c:v>195991857.11528206</c:v>
                </c:pt>
                <c:pt idx="2">
                  <c:v>5259571669.1525259</c:v>
                </c:pt>
                <c:pt idx="3">
                  <c:v>8247359405.2083559</c:v>
                </c:pt>
                <c:pt idx="4">
                  <c:v>11377651288.99287</c:v>
                </c:pt>
                <c:pt idx="5">
                  <c:v>14209423929.577768</c:v>
                </c:pt>
                <c:pt idx="6">
                  <c:v>21559726332.761383</c:v>
                </c:pt>
                <c:pt idx="7">
                  <c:v>28281734352.77562</c:v>
                </c:pt>
                <c:pt idx="8">
                  <c:v>34390982637.949677</c:v>
                </c:pt>
                <c:pt idx="9">
                  <c:v>41056645417.70034</c:v>
                </c:pt>
                <c:pt idx="10">
                  <c:v>48179323347.516083</c:v>
                </c:pt>
                <c:pt idx="11">
                  <c:v>53470772354.991661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88104209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068735"/>
        <c:crosses val="max"/>
        <c:crossBetween val="between"/>
      </c:valAx>
      <c:catAx>
        <c:axId val="769068735"/>
        <c:scaling>
          <c:orientation val="minMax"/>
        </c:scaling>
        <c:delete val="1"/>
        <c:axPos val="b"/>
        <c:majorTickMark val="out"/>
        <c:minorTickMark val="none"/>
        <c:tickLblPos val="nextTo"/>
        <c:crossAx val="8810420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B1FE-8E05-B28A-9AE3-4C144CA1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45805-2ABD-4B32-05B9-F86BD0C55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84C7-F255-752E-8842-FF477CFA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95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0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02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A4053C-67D3-3602-83BC-1FD5484C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856"/>
            <a:ext cx="9144000" cy="427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02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4FC0F-0877-DD59-07FC-5A32E2F05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3150"/>
            <a:ext cx="9144000" cy="46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39607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thuần</a:t>
                      </a:r>
                      <a:r>
                        <a:rPr lang="en-US" sz="1000" u="none" dirty="0"/>
                        <a:t> T02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/>
                        <a:t>97</a:t>
                      </a:r>
                      <a:r>
                        <a:rPr lang="en-US" sz="1000" u="none" dirty="0"/>
                        <a:t>/128 </a:t>
                      </a:r>
                      <a:r>
                        <a:rPr lang="en-US" sz="1000" u="none" dirty="0" err="1"/>
                        <a:t>tỷ</a:t>
                      </a:r>
                      <a:r>
                        <a:rPr lang="en-US" sz="1000" u="none" dirty="0"/>
                        <a:t> (75.5%).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+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lượng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bán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phẩm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chính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chỉ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100" b="1" u="none" dirty="0"/>
                        <a:t>3.17</a:t>
                      </a:r>
                      <a:r>
                        <a:rPr lang="en-US" sz="1000" u="none" dirty="0"/>
                        <a:t>/4.24 </a:t>
                      </a:r>
                      <a:r>
                        <a:rPr lang="en-US" sz="1000" u="none" dirty="0" err="1"/>
                        <a:t>ngàn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tấn</a:t>
                      </a:r>
                      <a:r>
                        <a:rPr lang="en-US" sz="1000" u="none" dirty="0"/>
                        <a:t> (74.6%): </a:t>
                      </a:r>
                      <a:r>
                        <a:rPr lang="en-US" sz="1000" u="none" dirty="0" err="1"/>
                        <a:t>tác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động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 err="1"/>
                        <a:t>giảm</a:t>
                      </a:r>
                      <a:r>
                        <a:rPr lang="en-US" sz="1000" b="1" u="none" dirty="0"/>
                        <a:t> 32 </a:t>
                      </a:r>
                      <a:r>
                        <a:rPr lang="en-US" sz="1000" b="1" u="none" dirty="0" err="1"/>
                        <a:t>tỷ</a:t>
                      </a:r>
                      <a:r>
                        <a:rPr lang="en-US" sz="1000" b="1" u="none" dirty="0"/>
                        <a:t>. </a:t>
                      </a:r>
                      <a:r>
                        <a:rPr lang="en-US" sz="1000" b="0" u="none" dirty="0" err="1"/>
                        <a:t>Outeirinho</a:t>
                      </a:r>
                      <a:r>
                        <a:rPr lang="en-US" sz="1000" b="0" u="none" dirty="0"/>
                        <a:t>, Premium Water, Uy Kiệt </a:t>
                      </a:r>
                      <a:r>
                        <a:rPr lang="en-US" sz="1000" b="0" u="none" dirty="0" err="1"/>
                        <a:t>chưa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lấy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hàng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trong</a:t>
                      </a:r>
                      <a:r>
                        <a:rPr lang="en-US" sz="1000" b="0" u="none" dirty="0"/>
                        <a:t> T02 (</a:t>
                      </a:r>
                      <a:r>
                        <a:rPr lang="en-US" sz="1000" b="0" u="none" dirty="0" err="1"/>
                        <a:t>thực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tế</a:t>
                      </a:r>
                      <a:r>
                        <a:rPr lang="en-US" sz="1000" b="0" u="none" dirty="0"/>
                        <a:t> T03 </a:t>
                      </a:r>
                      <a:r>
                        <a:rPr lang="en-US" sz="1000" b="0" u="none" dirty="0" err="1"/>
                        <a:t>mới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nhận</a:t>
                      </a:r>
                      <a:r>
                        <a:rPr lang="en-US" sz="1000" b="0" u="none" dirty="0"/>
                        <a:t>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r>
                        <a:rPr lang="en-US" dirty="0"/>
                        <a:t>2 (</a:t>
                      </a:r>
                      <a:r>
                        <a:rPr lang="en-US" dirty="0" err="1"/>
                        <a:t>thu</a:t>
                      </a:r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886472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529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6739506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/>
              <a:t>Ghi</a:t>
            </a:r>
            <a:r>
              <a:rPr lang="en-US" sz="800" i="1" u="sng"/>
              <a:t> </a:t>
            </a:r>
            <a:r>
              <a:rPr lang="en-US" sz="800" i="1" u="sng" err="1"/>
              <a:t>chú</a:t>
            </a:r>
            <a:r>
              <a:rPr lang="en-US" sz="800" i="1"/>
              <a:t>: </a:t>
            </a:r>
            <a:r>
              <a:rPr lang="en-US" sz="800" i="1" err="1"/>
              <a:t>lấy</a:t>
            </a:r>
            <a:r>
              <a:rPr lang="en-US" sz="800" i="1"/>
              <a:t> </a:t>
            </a:r>
            <a:r>
              <a:rPr lang="en-US" sz="800" i="1" err="1"/>
              <a:t>hạt</a:t>
            </a:r>
            <a:r>
              <a:rPr lang="en-US" sz="800" i="1"/>
              <a:t> </a:t>
            </a:r>
            <a:r>
              <a:rPr lang="en-US" sz="800" i="1" err="1"/>
              <a:t>rPET</a:t>
            </a:r>
            <a:endParaRPr lang="en-US" sz="800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BB10C-A263-180F-F55B-772ECAA6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132"/>
            <a:ext cx="9144000" cy="438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34136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$1,116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$1,127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1.0%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$1,167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$1,333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$165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14.1%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$635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$700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$764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$64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9.2%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$627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$700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$73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11.7%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EF30183-C6A8-F31D-C481-08B451614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" y="2627178"/>
            <a:ext cx="4579694" cy="2277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05F8C-AEF2-062B-7180-660844161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" y="294312"/>
            <a:ext cx="9144000" cy="22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AF143D-7310-B1EB-6B78-70FE2D135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181"/>
            <a:ext cx="9144000" cy="450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63B6-16A5-03EB-A670-87E4EAE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43C-48A3-7F34-838C-26D1E16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92294-18AC-1B71-42FC-0DD0F529155B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17281D-3A94-9A0D-2D81-EDC727B0F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496"/>
            <a:ext cx="9144000" cy="449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9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1FFD-18F0-A905-24F8-1C93BB5B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B754C-E5FF-3F60-70E8-FEBE3F531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329702"/>
              </p:ext>
            </p:extLst>
          </p:nvPr>
        </p:nvGraphicFramePr>
        <p:xfrm>
          <a:off x="58194" y="46259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Lợi </a:t>
                      </a:r>
                      <a:r>
                        <a:rPr lang="en-US" sz="1000" u="none" dirty="0" err="1"/>
                        <a:t>nhuận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sau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thuế</a:t>
                      </a:r>
                      <a:r>
                        <a:rPr lang="en-US" sz="1000" u="none" dirty="0"/>
                        <a:t> T02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/>
                        <a:t>-6.4/</a:t>
                      </a:r>
                      <a:r>
                        <a:rPr lang="en-US" sz="1000" u="none" dirty="0"/>
                        <a:t>1.3 </a:t>
                      </a:r>
                      <a:r>
                        <a:rPr lang="en-US" sz="1000" u="none" dirty="0" err="1"/>
                        <a:t>tỷ</a:t>
                      </a:r>
                      <a:r>
                        <a:rPr lang="en-US" sz="1000" u="none" dirty="0"/>
                        <a:t>.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50" u="none" dirty="0"/>
                        <a:t>+ </a:t>
                      </a:r>
                      <a:r>
                        <a:rPr lang="en-US" sz="950" u="none" dirty="0" err="1"/>
                        <a:t>Sản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lượng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bán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sản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phẩm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chính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đạt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1000" b="1" u="none" dirty="0"/>
                        <a:t>3.17</a:t>
                      </a:r>
                      <a:r>
                        <a:rPr lang="en-US" sz="950" u="none" dirty="0"/>
                        <a:t>/4.24 </a:t>
                      </a:r>
                      <a:r>
                        <a:rPr lang="en-US" sz="950" u="none" dirty="0" err="1"/>
                        <a:t>ngàn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tấn</a:t>
                      </a:r>
                      <a:r>
                        <a:rPr lang="en-US" sz="950" u="none" dirty="0"/>
                        <a:t>: </a:t>
                      </a:r>
                      <a:r>
                        <a:rPr lang="en-US" sz="950" u="none" dirty="0" err="1"/>
                        <a:t>tác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động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b="1" u="none" dirty="0" err="1"/>
                        <a:t>giảm</a:t>
                      </a:r>
                      <a:r>
                        <a:rPr lang="en-US" sz="950" b="1" u="none" dirty="0"/>
                        <a:t> -3.6 </a:t>
                      </a:r>
                      <a:r>
                        <a:rPr lang="en-US" sz="950" b="1" u="none" dirty="0" err="1"/>
                        <a:t>tỷ</a:t>
                      </a:r>
                      <a:endParaRPr lang="en-US" sz="950" b="1" u="non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+ </a:t>
                      </a:r>
                      <a:r>
                        <a:rPr lang="en-US" sz="1000" u="none" dirty="0" err="1"/>
                        <a:t>Giá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vốn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xuất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kho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trong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kỳ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cao</a:t>
                      </a:r>
                      <a:r>
                        <a:rPr lang="en-US" sz="1000" u="none" dirty="0"/>
                        <a:t> (do </a:t>
                      </a:r>
                      <a:r>
                        <a:rPr lang="en-US" sz="1000" u="none" dirty="0" err="1"/>
                        <a:t>tháng</a:t>
                      </a:r>
                      <a:r>
                        <a:rPr lang="en-US" sz="1000" u="none" dirty="0"/>
                        <a:t> 2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lượng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xuất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thấp</a:t>
                      </a:r>
                      <a:r>
                        <a:rPr lang="en-US" sz="1000" u="none" dirty="0"/>
                        <a:t>): </a:t>
                      </a:r>
                      <a:r>
                        <a:rPr lang="en-US" sz="1000" u="none" dirty="0" err="1"/>
                        <a:t>tác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động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 err="1"/>
                        <a:t>giảm</a:t>
                      </a:r>
                      <a:r>
                        <a:rPr lang="en-US" sz="1000" b="1" u="none" dirty="0"/>
                        <a:t> -2.2 </a:t>
                      </a:r>
                      <a:r>
                        <a:rPr lang="en-US" sz="1000" b="1" u="none" dirty="0" err="1"/>
                        <a:t>tỷ</a:t>
                      </a:r>
                      <a:endParaRPr lang="en-US" sz="1000" b="1" u="non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Số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liệu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tác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động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đã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tính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thuế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TNDN)</a:t>
                      </a:r>
                      <a:endParaRPr lang="en-US" sz="1000" b="0" i="0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FDE5E7-7896-7282-4466-39062B15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0D84FB5-511B-8165-6333-DC95CA4A2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8125006"/>
              </p:ext>
            </p:extLst>
          </p:nvPr>
        </p:nvGraphicFramePr>
        <p:xfrm>
          <a:off x="58195" y="69491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17B495-6270-A9AF-8058-B3675D531042}"/>
              </a:ext>
            </a:extLst>
          </p:cNvPr>
          <p:cNvSpPr/>
          <p:nvPr/>
        </p:nvSpPr>
        <p:spPr>
          <a:xfrm>
            <a:off x="58195" y="47655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A6C04-91EA-C523-DE43-9E8DF5124EE7}"/>
              </a:ext>
            </a:extLst>
          </p:cNvPr>
          <p:cNvSpPr/>
          <p:nvPr/>
        </p:nvSpPr>
        <p:spPr>
          <a:xfrm>
            <a:off x="58195" y="258361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5D34DAE-E6F6-848C-1C73-CCFD3D0F5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996992"/>
              </p:ext>
            </p:extLst>
          </p:nvPr>
        </p:nvGraphicFramePr>
        <p:xfrm>
          <a:off x="20094" y="280169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88B3D74-C421-7BFA-EDEC-F96FB195D97E}"/>
              </a:ext>
            </a:extLst>
          </p:cNvPr>
          <p:cNvSpPr txBox="1"/>
          <p:nvPr/>
        </p:nvSpPr>
        <p:spPr>
          <a:xfrm>
            <a:off x="5896612" y="47526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4C7409-5B55-B71A-252B-5D90B1EF90D3}"/>
              </a:ext>
            </a:extLst>
          </p:cNvPr>
          <p:cNvSpPr txBox="1"/>
          <p:nvPr/>
        </p:nvSpPr>
        <p:spPr>
          <a:xfrm>
            <a:off x="5896613" y="259276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303971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91000" y="4621946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43BC1-F1E8-09F0-C187-B9EFCD23102B}"/>
              </a:ext>
            </a:extLst>
          </p:cNvPr>
          <p:cNvSpPr txBox="1"/>
          <p:nvPr/>
        </p:nvSpPr>
        <p:spPr>
          <a:xfrm>
            <a:off x="0" y="4724271"/>
            <a:ext cx="28664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latin typeface="Aptos Display" panose="020B0004020202020204" pitchFamily="34" charset="0"/>
              </a:rPr>
              <a:t>(*): Tổng chi phí ủng hộ tài trợ cả năm 2025 là 6.1 tỷ; KH25 là 8.6 tỷ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BFF9E6-1492-5096-9F65-7E26014D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739"/>
            <a:ext cx="9144000" cy="42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02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08281-BD28-97F8-7733-2288E10D2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670"/>
            <a:ext cx="9144000" cy="466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C1B91-646D-BF04-9318-9AA19EAAD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612"/>
            <a:ext cx="9144000" cy="46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9704F-86C3-C128-B61E-9F5513EBD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6" y="308953"/>
            <a:ext cx="9028959" cy="46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trung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T02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14,948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-52 đ/kg; -0.3%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15,115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+115 đ/kg; +0.8%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2010" y="1404173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3CD84-D168-A32B-5CB8-0B8D84E2F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937"/>
            <a:ext cx="9144000" cy="42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trung bình T02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15,931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-569 đ/kg; -3.5%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15,939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-561 đ/kg; -3.4%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379472" y="1577399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08B05-1E90-A011-2BB4-C0DAEDBC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08"/>
            <a:ext cx="9144000" cy="420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0BF921B-5040-4D54-A3E7-8C229FB42018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c4b5fce3-9bbc-4429-8073-3ae7a9bcc677"/>
    <ds:schemaRef ds:uri="http://schemas.microsoft.com/office/2006/documentManagement/types"/>
    <ds:schemaRef ds:uri="http://purl.org/dc/terms/"/>
    <ds:schemaRef ds:uri="1401b2ec-7936-4f98-86ff-5ef737f58b9c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5600</TotalTime>
  <Words>701</Words>
  <Application>Microsoft Office PowerPoint</Application>
  <PresentationFormat>On-screen Show (16:9)</PresentationFormat>
  <Paragraphs>136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 Display</vt:lpstr>
      <vt:lpstr>Aptos Narrow</vt:lpstr>
      <vt:lpstr>Arial</vt:lpstr>
      <vt:lpstr>Muli</vt:lpstr>
      <vt:lpstr>Times New Roman</vt:lpstr>
      <vt:lpstr>Simple Light</vt:lpstr>
      <vt:lpstr>3.1. KẾT QUẢ HOẠT ĐỘNG KINH DOANH – LÃI LỖ THÁNG 02 – DTR</vt:lpstr>
      <vt:lpstr>3.1. KẾT QUẢ HOẠT ĐỘNG KINH DOANH – LÃI LỖ THÁNG 02 – 3 TRẠM</vt:lpstr>
      <vt:lpstr>3.1. KẾT QUẢ HOẠT ĐỘNG KINH DOANH – GIẢI TRÌNH DOANH THU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GIẢI TRÌNH LỢI NHUẬN SAU THUẾ</vt:lpstr>
      <vt:lpstr>3.1. KẾT QUẢ HOẠT ĐỘNG KINH DOANH – BIẾN ĐỘNG LỢI NHUẬN SAU THUẾ</vt:lpstr>
      <vt:lpstr>3.2. CHI PHÍ – TỔNG CHI PHÍ TRONG THÁNG 02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11</cp:revision>
  <dcterms:modified xsi:type="dcterms:W3CDTF">2026-03-17T05:37:05Z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